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 txBox="1"/>
          <p:nvPr/>
        </p:nvSpPr>
        <p:spPr>
          <a:xfrm>
            <a:off x="468000" y="216000"/>
            <a:ext cx="1080000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300" spc="-1" strike="noStrike">
                <a:solidFill>
                  <a:srgbClr val="58d6c5"/>
                </a:solidFill>
                <a:latin typeface="DejaVu Sans"/>
              </a:rPr>
              <a:t>VIRTUAL BOARD / OTUS · LINUX KERNEL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"/>
          <p:cNvSpPr txBox="1"/>
          <p:nvPr/>
        </p:nvSpPr>
        <p:spPr>
          <a:xfrm>
            <a:off x="468000" y="558000"/>
            <a:ext cx="11160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000" spc="-1" strike="noStrike">
                <a:solidFill>
                  <a:srgbClr val="ffffff"/>
                </a:solidFill>
                <a:latin typeface="DejaVu Sans"/>
              </a:rPr>
              <a:t>Виртуальная CAN-плата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"/>
          <p:cNvSpPr txBox="1"/>
          <p:nvPr/>
        </p:nvSpPr>
        <p:spPr>
          <a:xfrm>
            <a:off x="468000" y="6444000"/>
            <a:ext cx="1044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Рабочая версия · 21.09.2026 · промежуточная презентация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10980000" y="6444000"/>
            <a:ext cx="72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01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468000" y="1440000"/>
            <a:ext cx="10800000" cy="1330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4000" spc="-1" strike="noStrike">
                <a:solidFill>
                  <a:srgbClr val="ffffff"/>
                </a:solidFill>
                <a:latin typeface="DejaVu Sans"/>
              </a:rPr>
              <a:t>Температурный контроль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  <a:p>
            <a:r>
              <a:rPr b="1" lang="en-US" sz="4000" spc="-1" strike="noStrike">
                <a:solidFill>
                  <a:srgbClr val="ffffff"/>
                </a:solidFill>
                <a:latin typeface="DejaVu Sans"/>
              </a:rPr>
              <a:t>без физической платы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468000" y="2952000"/>
            <a:ext cx="9720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Модуль ядра Linux · уровень Medium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Персональный буфер событий каждого процесса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468000" y="4320000"/>
            <a:ext cx="10440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Андрей Юнин / выпускной проект OTUS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468000" y="5220000"/>
            <a:ext cx="10440000" cy="57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500" spc="-1" strike="noStrike">
                <a:solidFill>
                  <a:srgbClr val="f3c879"/>
                </a:solidFill>
                <a:latin typeface="DejaVu Sans"/>
              </a:rPr>
              <a:t>Проверено: write → workqueue → CAN → candump.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 txBox="1"/>
          <p:nvPr/>
        </p:nvSpPr>
        <p:spPr>
          <a:xfrm>
            <a:off x="468000" y="216000"/>
            <a:ext cx="1080000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300" spc="-1" strike="noStrike">
                <a:solidFill>
                  <a:srgbClr val="58d6c5"/>
                </a:solidFill>
                <a:latin typeface="DejaVu Sans"/>
              </a:rPr>
              <a:t>VIRTUAL BOARD / OTUS · LINUX KERNEL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468000" y="558000"/>
            <a:ext cx="11160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000" spc="-1" strike="noStrike">
                <a:solidFill>
                  <a:srgbClr val="ffffff"/>
                </a:solidFill>
                <a:latin typeface="DejaVu Sans"/>
              </a:rPr>
              <a:t>Задача и границы проекта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468000" y="6444000"/>
            <a:ext cx="1044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Рабочая версия · 21.09.2026 · согласованный объём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0980000" y="6444000"/>
            <a:ext cx="72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02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468000" y="1368000"/>
            <a:ext cx="10800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Воспроизводить нормальную температуру, перегрев и охлаждение для проверки управляющего ПО.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468000" y="2376000"/>
            <a:ext cx="5328000" cy="2700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ЗАДАЁМ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Температуру и два предела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Запуск и остановку передачи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Период CAN-статуса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6156000" y="2376000"/>
            <a:ext cx="5544000" cy="2700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НАБЛЮДАЕМ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CAN-статус и переходы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Локальные события процессов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Состояние через ioctl / proc / sys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468000" y="5472000"/>
            <a:ext cx="10800000" cy="5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Одна плата · один интерфейс · только отправка CAN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"/>
          <p:cNvSpPr txBox="1"/>
          <p:nvPr/>
        </p:nvSpPr>
        <p:spPr>
          <a:xfrm>
            <a:off x="468000" y="216000"/>
            <a:ext cx="1080000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300" spc="-1" strike="noStrike">
                <a:solidFill>
                  <a:srgbClr val="58d6c5"/>
                </a:solidFill>
                <a:latin typeface="DejaVu Sans"/>
              </a:rPr>
              <a:t>VIRTUAL BOARD / OTUS · LINUX KERNEL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468000" y="558000"/>
            <a:ext cx="11160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000" spc="-1" strike="noStrike">
                <a:solidFill>
                  <a:srgbClr val="ffffff"/>
                </a:solidFill>
                <a:latin typeface="DejaVu Sans"/>
              </a:rPr>
              <a:t>Кто за что отвечает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468000" y="6444000"/>
            <a:ext cx="1044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Рабочая версия · 21.09.2026 · первый CAN-кадр проверен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10980000" y="6444000"/>
            <a:ext cx="72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03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468000" y="1296000"/>
            <a:ext cx="11160000" cy="5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Подготовка шины: драйвер vcan + команды ip link → vcan0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468000" y="2160000"/>
            <a:ext cx="2952000" cy="1080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Терминал / boardctl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Команды платы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3528000" y="2520000"/>
            <a:ext cx="43200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4068000" y="2160000"/>
            <a:ext cx="3600000" cy="1080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virtual_board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Формирует CAN-кадры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7812000" y="2520000"/>
            <a:ext cx="43200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8352000" y="2160000"/>
            <a:ext cx="3348000" cy="1080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SocketCAN / vcan0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candump: приём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468000" y="3780000"/>
            <a:ext cx="11160000" cy="93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can_iface хранит имя готового интерфейса.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Кадры 0x124 получены в candump.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468000" y="5040000"/>
            <a:ext cx="11160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cansend нужен для отдельной проверки шины.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После выгрузки virtual_board интерфейс vcan0 остаётся.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"/>
          <p:cNvSpPr txBox="1"/>
          <p:nvPr/>
        </p:nvSpPr>
        <p:spPr>
          <a:xfrm>
            <a:off x="468000" y="216000"/>
            <a:ext cx="1080000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300" spc="-1" strike="noStrike">
                <a:solidFill>
                  <a:srgbClr val="58d6c5"/>
                </a:solidFill>
                <a:latin typeface="DejaVu Sans"/>
              </a:rPr>
              <a:t>VIRTUAL BOARD / OTUS · LINUX KERNEL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468000" y="558000"/>
            <a:ext cx="11160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000" spc="-1" strike="noStrike">
                <a:solidFill>
                  <a:srgbClr val="ffffff"/>
                </a:solidFill>
                <a:latin typeface="DejaVu Sans"/>
              </a:rPr>
              <a:t>Персональные буферы — требование Medium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468000" y="6444000"/>
            <a:ext cx="1044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Рабочая версия · 21.09.2026 · архитектура; реализация впереди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10980000" y="6444000"/>
            <a:ext cx="72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04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468000" y="1368000"/>
            <a:ext cx="10800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Одно событие платы → отдельная копия каждому читателю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468000" y="2700000"/>
            <a:ext cx="3240000" cy="1080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virtual_board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Общее состояние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3960000" y="2196000"/>
            <a:ext cx="36000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4500000" y="1908000"/>
            <a:ext cx="2880000" cy="1008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FIFO процесса A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7632000" y="2196000"/>
            <a:ext cx="36000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8172000" y="1908000"/>
            <a:ext cx="3528000" cy="1008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read() процесса A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3960000" y="3672000"/>
            <a:ext cx="36000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4500000" y="3384000"/>
            <a:ext cx="2880000" cy="1008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FIFO процесса B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7632000" y="3672000"/>
            <a:ext cx="36000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8172000" y="3384000"/>
            <a:ext cx="3528000" cy="1008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read() процесса B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68000" y="5040000"/>
            <a:ext cx="11160000" cy="93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Чтение A не удаляет события из очереди B.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До 8 процессов · 64 события на очередь · учёт потерь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"/>
          <p:cNvSpPr txBox="1"/>
          <p:nvPr/>
        </p:nvSpPr>
        <p:spPr>
          <a:xfrm>
            <a:off x="468000" y="216000"/>
            <a:ext cx="1080000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300" spc="-1" strike="noStrike">
                <a:solidFill>
                  <a:srgbClr val="58d6c5"/>
                </a:solidFill>
                <a:latin typeface="DejaVu Sans"/>
              </a:rPr>
              <a:t>VIRTUAL BOARD / OTUS · LINUX KERNEL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468000" y="558000"/>
            <a:ext cx="11160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000" spc="-1" strike="noStrike">
                <a:solidFill>
                  <a:srgbClr val="ffffff"/>
                </a:solidFill>
                <a:latin typeface="DejaVu Sans"/>
              </a:rPr>
              <a:t>Два состояния и два пути данных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468000" y="6444000"/>
            <a:ext cx="1044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Рабочая версия · 21.09.2026 · CAN-переходы проверены; FIFO впереди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10980000" y="6444000"/>
            <a:ext cx="72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05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468000" y="1368000"/>
            <a:ext cx="5400000" cy="1800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state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stopped / running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Управляет CAN-передачей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6228000" y="1368000"/>
            <a:ext cx="5472000" cy="1800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temp_status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normal / undertemp / overheat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Отражает температуру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468000" y="3600000"/>
            <a:ext cx="11160000" cy="12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CAN: периодический статус и температурные переходы.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read(): локальные события из FIFO процесса.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Периодические CAN-статусы не заполняют FIFO.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468000" y="5328000"/>
            <a:ext cx="111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Перегрев не останавливает передачу; возврат в норму автоматический.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"/>
          <p:cNvSpPr txBox="1"/>
          <p:nvPr/>
        </p:nvSpPr>
        <p:spPr>
          <a:xfrm>
            <a:off x="468000" y="216000"/>
            <a:ext cx="1080000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300" spc="-1" strike="noStrike">
                <a:solidFill>
                  <a:srgbClr val="58d6c5"/>
                </a:solidFill>
                <a:latin typeface="DejaVu Sans"/>
              </a:rPr>
              <a:t>VIRTUAL BOARD / OTUS · LINUX KERNEL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468000" y="558000"/>
            <a:ext cx="11160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000" spc="-1" strike="noStrike">
                <a:solidFill>
                  <a:srgbClr val="ffffff"/>
                </a:solidFill>
                <a:latin typeface="DejaVu Sans"/>
              </a:rPr>
              <a:t>Как выполняется команда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68000" y="6444000"/>
            <a:ext cx="1044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Рабочая версия · 21.09.2026 · write реализован и испытан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10980000" y="6444000"/>
            <a:ext cx="72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06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68000" y="1368000"/>
            <a:ext cx="5400000" cy="3312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Отправитель команды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write: копирование и разбор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command_lock: один отправитель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Заявка: work + command + done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queue_work → очередь ядра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Ожидание → результат → kfree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228000" y="1368000"/>
            <a:ext cx="5472000" cy="3312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Рабочий поток ядра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Вызывает vb_command_work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Применяет команды платы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state_lock защищает состояние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Записывает результат заявки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complete → будит отправителя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468000" y="5148000"/>
            <a:ext cx="11160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Основа: ДЗ14 — ordered workqueue; лекция 31 — work + completion.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"/>
          <p:cNvSpPr txBox="1"/>
          <p:nvPr/>
        </p:nvSpPr>
        <p:spPr>
          <a:xfrm>
            <a:off x="468000" y="216000"/>
            <a:ext cx="1080000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300" spc="-1" strike="noStrike">
                <a:solidFill>
                  <a:srgbClr val="58d6c5"/>
                </a:solidFill>
                <a:latin typeface="DejaVu Sans"/>
              </a:rPr>
              <a:t>VIRTUAL BOARD / OTUS · LINUX KERNEL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468000" y="558000"/>
            <a:ext cx="11160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000" spc="-1" strike="noStrike">
                <a:solidFill>
                  <a:srgbClr val="ffffff"/>
                </a:solidFill>
                <a:latin typeface="DejaVu Sans"/>
              </a:rPr>
              <a:t>Что уже проверено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68000" y="6444000"/>
            <a:ext cx="1044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Рабочая версия · 21.09.2026 · результаты 17–21.09.2026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10980000" y="6444000"/>
            <a:ext cx="72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07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68000" y="1296000"/>
            <a:ext cx="1116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Linux Mint 22 · x86_64 · ядро 6.8.0-38-generic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468000" y="1908000"/>
            <a:ext cx="11160000" cy="792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1800" spc="-1" strike="noStrike">
                <a:solidFill>
                  <a:srgbClr val="e5edf6"/>
                </a:solidFill>
                <a:latin typeface="DejaVu Sans Mono"/>
              </a:rPr>
              <a:t>write: temp / limits → workqueue → состояние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e5edf6"/>
                </a:solidFill>
                <a:latin typeface="DejaVu Sans Mono"/>
              </a:rPr>
              <a:t>normal → overheat → normal → undertemp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468000" y="3024000"/>
            <a:ext cx="11160000" cy="1368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1800" spc="-1" strike="noStrike">
                <a:solidFill>
                  <a:srgbClr val="e5edf6"/>
                </a:solidFill>
                <a:latin typeface="DejaVu Sans Mono"/>
              </a:rPr>
              <a:t>Обе точные границы температуры — норма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e5edf6"/>
                </a:solidFill>
                <a:latin typeface="DejaVu Sans Mono"/>
              </a:rPr>
              <a:t>3 неверные команды отклонены; затем write работает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e5edf6"/>
                </a:solidFill>
                <a:latin typeface="DejaVu Sans Mono"/>
              </a:rPr>
              <a:t>После выгрузки: узел, класс и номер удалены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468000" y="4716000"/>
            <a:ext cx="11160000" cy="709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CAN 0x124: перегрев и возврат в норму. Без повторов; в stopped кадров нет, контроль продолжается.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468000" y="5580000"/>
            <a:ext cx="11160000" cy="46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500" spc="-1" strike="noStrike">
                <a:solidFill>
                  <a:srgbClr val="f3c879"/>
                </a:solidFill>
                <a:latin typeface="DejaVu Sans"/>
              </a:rPr>
              <a:t>До CAN: check — 0 ошибок, 17 замечаний; .config отложена.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"/>
          <p:cNvSpPr txBox="1"/>
          <p:nvPr/>
        </p:nvSpPr>
        <p:spPr>
          <a:xfrm>
            <a:off x="468000" y="216000"/>
            <a:ext cx="1080000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300" spc="-1" strike="noStrike">
                <a:solidFill>
                  <a:srgbClr val="58d6c5"/>
                </a:solidFill>
                <a:latin typeface="DejaVu Sans"/>
              </a:rPr>
              <a:t>VIRTUAL BOARD / OTUS · LINUX KERNEL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68000" y="558000"/>
            <a:ext cx="11160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000" spc="-1" strike="noStrike">
                <a:solidFill>
                  <a:srgbClr val="ffffff"/>
                </a:solidFill>
                <a:latin typeface="DejaVu Sans"/>
              </a:rPr>
              <a:t>Следующие этапы и демонстрация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68000" y="6444000"/>
            <a:ext cx="1044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Рабочая версия · 21.09.2026 · план; результаты добавим после испытаний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0980000" y="6444000"/>
            <a:ext cx="72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08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468000" y="1368000"/>
            <a:ext cx="5400000" cy="3528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РЕАЛИЗОВАТЬ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Таймер и статус 0x123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Проверка периода в candump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Таймер: start / stop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Персональные FIFO и read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ioctl, procfs и sysfs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6228000" y="1368000"/>
            <a:ext cx="5472000" cy="3528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ПОКАЗАТЬ НА ЗАЩИТЕ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Норма → перегрев → норма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Охлаждение ниже предела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Независимость двух читателей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Ошибочный ввод и переполнение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Остановку и освобождение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68000" y="5256000"/>
            <a:ext cx="111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Готовность подтверждаем испытаниями каждого требования Medium.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